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3.jpg" ContentType="image/jpg"/>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Gill Sans MT" panose="020B0502020104020203"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94" autoAdjust="0"/>
    <p:restoredTop sz="91283" autoAdjust="0"/>
  </p:normalViewPr>
  <p:slideViewPr>
    <p:cSldViewPr snapToGrid="0" showGuides="1">
      <p:cViewPr>
        <p:scale>
          <a:sx n="100" d="100"/>
          <a:sy n="100" d="100"/>
        </p:scale>
        <p:origin x="1356" y="162"/>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16/12/2025</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800808" y="1967886"/>
            <a:ext cx="2030963" cy="1718741"/>
          </a:xfrm>
          <a:prstGeom prst="rect">
            <a:avLst/>
          </a:prstGeom>
          <a:noFill/>
        </p:spPr>
        <p:txBody>
          <a:bodyPr wrap="square" lIns="0" tIns="0" rIns="0" bIns="0" rtlCol="0" anchor="t">
            <a:noAutofit/>
          </a:bodyPr>
          <a:lstStyle/>
          <a:p>
            <a:r>
              <a:rPr lang="en-AU" sz="1600" b="1" spc="-30" dirty="0">
                <a:solidFill>
                  <a:srgbClr val="000004"/>
                </a:solidFill>
                <a:latin typeface="Times New Roman"/>
                <a:cs typeface="Times New Roman"/>
              </a:rPr>
              <a:t>Chips Category Review</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defPPr>
              <a:defRPr lang="en-US"/>
            </a:defPPr>
            <a:lvl1pPr>
              <a:defRPr sz="1600" b="1" spc="-30">
                <a:solidFill>
                  <a:srgbClr val="000004"/>
                </a:solidFill>
                <a:latin typeface="Times New Roman"/>
                <a:cs typeface="Times New Roman"/>
              </a:defRPr>
            </a:lvl1pPr>
          </a:lstStyle>
          <a:p>
            <a:r>
              <a:rPr lang="en-AU" dirty="0"/>
              <a:t>Trial Store Analysis</a:t>
            </a:r>
          </a:p>
        </p:txBody>
      </p:sp>
      <p:sp>
        <p:nvSpPr>
          <p:cNvPr id="8" name="object 11">
            <a:extLst>
              <a:ext uri="{FF2B5EF4-FFF2-40B4-BE49-F238E27FC236}">
                <a16:creationId xmlns:a16="http://schemas.microsoft.com/office/drawing/2014/main" id="{4F0386B3-002A-52DB-F094-A29B1C3C739A}"/>
              </a:ext>
            </a:extLst>
          </p:cNvPr>
          <p:cNvSpPr txBox="1"/>
          <p:nvPr/>
        </p:nvSpPr>
        <p:spPr>
          <a:xfrm>
            <a:off x="4084607" y="4158465"/>
            <a:ext cx="7598409" cy="2221230"/>
          </a:xfrm>
          <a:prstGeom prst="rect">
            <a:avLst/>
          </a:prstGeom>
        </p:spPr>
        <p:txBody>
          <a:bodyPr vert="horz" wrap="square" lIns="0" tIns="12700" rIns="0" bIns="0" rtlCol="0">
            <a:spAutoFit/>
          </a:bodyPr>
          <a:lstStyle/>
          <a:p>
            <a:pPr marL="299085" indent="-286385">
              <a:lnSpc>
                <a:spcPct val="100000"/>
              </a:lnSpc>
              <a:spcBef>
                <a:spcPts val="100"/>
              </a:spcBef>
              <a:buFont typeface="Arial"/>
              <a:buChar char="•"/>
              <a:tabLst>
                <a:tab pos="299085" algn="l"/>
              </a:tabLst>
            </a:pPr>
            <a:r>
              <a:rPr sz="1800" spc="-30" dirty="0">
                <a:solidFill>
                  <a:srgbClr val="000004"/>
                </a:solidFill>
                <a:latin typeface="Times New Roman"/>
                <a:cs typeface="Times New Roman"/>
              </a:rPr>
              <a:t>To</a:t>
            </a:r>
            <a:r>
              <a:rPr sz="1800" spc="-20" dirty="0">
                <a:solidFill>
                  <a:srgbClr val="000004"/>
                </a:solidFill>
                <a:latin typeface="Times New Roman"/>
                <a:cs typeface="Times New Roman"/>
              </a:rPr>
              <a:t> </a:t>
            </a:r>
            <a:r>
              <a:rPr sz="1800" dirty="0">
                <a:solidFill>
                  <a:srgbClr val="000004"/>
                </a:solidFill>
                <a:latin typeface="Times New Roman"/>
                <a:cs typeface="Times New Roman"/>
              </a:rPr>
              <a:t>replicate</a:t>
            </a:r>
            <a:r>
              <a:rPr sz="1800" spc="-20" dirty="0">
                <a:solidFill>
                  <a:srgbClr val="000004"/>
                </a:solidFill>
                <a:latin typeface="Times New Roman"/>
                <a:cs typeface="Times New Roman"/>
              </a:rPr>
              <a:t> </a:t>
            </a:r>
            <a:r>
              <a:rPr sz="1800" dirty="0">
                <a:solidFill>
                  <a:srgbClr val="000004"/>
                </a:solidFill>
                <a:latin typeface="Times New Roman"/>
                <a:cs typeface="Times New Roman"/>
              </a:rPr>
              <a:t>the</a:t>
            </a:r>
            <a:r>
              <a:rPr sz="1800" spc="-55" dirty="0">
                <a:solidFill>
                  <a:srgbClr val="000004"/>
                </a:solidFill>
                <a:latin typeface="Times New Roman"/>
                <a:cs typeface="Times New Roman"/>
              </a:rPr>
              <a:t> </a:t>
            </a:r>
            <a:r>
              <a:rPr sz="1800" dirty="0">
                <a:solidFill>
                  <a:srgbClr val="000004"/>
                </a:solidFill>
                <a:latin typeface="Times New Roman"/>
                <a:cs typeface="Times New Roman"/>
              </a:rPr>
              <a:t>previous</a:t>
            </a:r>
            <a:r>
              <a:rPr sz="1800" spc="-45" dirty="0">
                <a:solidFill>
                  <a:srgbClr val="000004"/>
                </a:solidFill>
                <a:latin typeface="Times New Roman"/>
                <a:cs typeface="Times New Roman"/>
              </a:rPr>
              <a:t> </a:t>
            </a:r>
            <a:r>
              <a:rPr sz="1800" dirty="0">
                <a:solidFill>
                  <a:srgbClr val="000004"/>
                </a:solidFill>
                <a:latin typeface="Times New Roman"/>
                <a:cs typeface="Times New Roman"/>
              </a:rPr>
              <a:t>performance</a:t>
            </a:r>
            <a:r>
              <a:rPr sz="1800" spc="10" dirty="0">
                <a:solidFill>
                  <a:srgbClr val="000004"/>
                </a:solidFill>
                <a:latin typeface="Times New Roman"/>
                <a:cs typeface="Times New Roman"/>
              </a:rPr>
              <a:t> </a:t>
            </a:r>
            <a:r>
              <a:rPr sz="1800" dirty="0">
                <a:solidFill>
                  <a:srgbClr val="000004"/>
                </a:solidFill>
                <a:latin typeface="Times New Roman"/>
                <a:cs typeface="Times New Roman"/>
              </a:rPr>
              <a:t>of</a:t>
            </a:r>
            <a:r>
              <a:rPr sz="1800" spc="-20" dirty="0">
                <a:solidFill>
                  <a:srgbClr val="000004"/>
                </a:solidFill>
                <a:latin typeface="Times New Roman"/>
                <a:cs typeface="Times New Roman"/>
              </a:rPr>
              <a:t> </a:t>
            </a:r>
            <a:r>
              <a:rPr sz="1800" dirty="0">
                <a:solidFill>
                  <a:srgbClr val="000004"/>
                </a:solidFill>
                <a:latin typeface="Times New Roman"/>
                <a:cs typeface="Times New Roman"/>
              </a:rPr>
              <a:t>the</a:t>
            </a:r>
            <a:r>
              <a:rPr sz="1800" spc="-55" dirty="0">
                <a:solidFill>
                  <a:srgbClr val="000004"/>
                </a:solidFill>
                <a:latin typeface="Times New Roman"/>
                <a:cs typeface="Times New Roman"/>
              </a:rPr>
              <a:t> </a:t>
            </a:r>
            <a:r>
              <a:rPr sz="1800" dirty="0">
                <a:solidFill>
                  <a:srgbClr val="000004"/>
                </a:solidFill>
                <a:latin typeface="Times New Roman"/>
                <a:cs typeface="Times New Roman"/>
              </a:rPr>
              <a:t>chosen</a:t>
            </a:r>
            <a:r>
              <a:rPr sz="1800" spc="-30" dirty="0">
                <a:solidFill>
                  <a:srgbClr val="000004"/>
                </a:solidFill>
                <a:latin typeface="Times New Roman"/>
                <a:cs typeface="Times New Roman"/>
              </a:rPr>
              <a:t> </a:t>
            </a:r>
            <a:r>
              <a:rPr sz="1800" dirty="0">
                <a:solidFill>
                  <a:srgbClr val="000004"/>
                </a:solidFill>
                <a:latin typeface="Times New Roman"/>
                <a:cs typeface="Times New Roman"/>
              </a:rPr>
              <a:t>trial</a:t>
            </a:r>
            <a:r>
              <a:rPr sz="1800" spc="-20" dirty="0">
                <a:solidFill>
                  <a:srgbClr val="000004"/>
                </a:solidFill>
                <a:latin typeface="Times New Roman"/>
                <a:cs typeface="Times New Roman"/>
              </a:rPr>
              <a:t> </a:t>
            </a:r>
            <a:r>
              <a:rPr sz="1800" dirty="0">
                <a:solidFill>
                  <a:srgbClr val="000004"/>
                </a:solidFill>
                <a:latin typeface="Times New Roman"/>
                <a:cs typeface="Times New Roman"/>
              </a:rPr>
              <a:t>stores</a:t>
            </a:r>
            <a:r>
              <a:rPr sz="1800" spc="-45" dirty="0">
                <a:solidFill>
                  <a:srgbClr val="000004"/>
                </a:solidFill>
                <a:latin typeface="Times New Roman"/>
                <a:cs typeface="Times New Roman"/>
              </a:rPr>
              <a:t> </a:t>
            </a:r>
            <a:r>
              <a:rPr sz="1800" dirty="0">
                <a:solidFill>
                  <a:srgbClr val="000004"/>
                </a:solidFill>
                <a:latin typeface="Times New Roman"/>
                <a:cs typeface="Times New Roman"/>
              </a:rPr>
              <a:t>77,86</a:t>
            </a:r>
            <a:r>
              <a:rPr sz="1800" spc="-55" dirty="0">
                <a:solidFill>
                  <a:srgbClr val="000004"/>
                </a:solidFill>
                <a:latin typeface="Times New Roman"/>
                <a:cs typeface="Times New Roman"/>
              </a:rPr>
              <a:t> </a:t>
            </a:r>
            <a:r>
              <a:rPr sz="1800" dirty="0">
                <a:solidFill>
                  <a:srgbClr val="000004"/>
                </a:solidFill>
                <a:latin typeface="Times New Roman"/>
                <a:cs typeface="Times New Roman"/>
              </a:rPr>
              <a:t>and</a:t>
            </a:r>
            <a:r>
              <a:rPr sz="1800" spc="-30" dirty="0">
                <a:solidFill>
                  <a:srgbClr val="000004"/>
                </a:solidFill>
                <a:latin typeface="Times New Roman"/>
                <a:cs typeface="Times New Roman"/>
              </a:rPr>
              <a:t> </a:t>
            </a:r>
            <a:r>
              <a:rPr sz="1800" spc="-25" dirty="0">
                <a:solidFill>
                  <a:srgbClr val="000004"/>
                </a:solidFill>
                <a:latin typeface="Times New Roman"/>
                <a:cs typeface="Times New Roman"/>
              </a:rPr>
              <a:t>88,</a:t>
            </a:r>
            <a:endParaRPr sz="1800" dirty="0">
              <a:latin typeface="Times New Roman"/>
              <a:cs typeface="Times New Roman"/>
            </a:endParaRPr>
          </a:p>
          <a:p>
            <a:pPr marL="299085">
              <a:lnSpc>
                <a:spcPct val="100000"/>
              </a:lnSpc>
              <a:spcBef>
                <a:spcPts val="5"/>
              </a:spcBef>
            </a:pPr>
            <a:r>
              <a:rPr sz="1800" dirty="0">
                <a:solidFill>
                  <a:srgbClr val="000004"/>
                </a:solidFill>
                <a:latin typeface="Times New Roman"/>
                <a:cs typeface="Times New Roman"/>
              </a:rPr>
              <a:t>control</a:t>
            </a:r>
            <a:r>
              <a:rPr sz="1800" spc="-45" dirty="0">
                <a:solidFill>
                  <a:srgbClr val="000004"/>
                </a:solidFill>
                <a:latin typeface="Times New Roman"/>
                <a:cs typeface="Times New Roman"/>
              </a:rPr>
              <a:t> </a:t>
            </a:r>
            <a:r>
              <a:rPr sz="1800" dirty="0">
                <a:solidFill>
                  <a:srgbClr val="000004"/>
                </a:solidFill>
                <a:latin typeface="Times New Roman"/>
                <a:cs typeface="Times New Roman"/>
              </a:rPr>
              <a:t>stores</a:t>
            </a:r>
            <a:r>
              <a:rPr sz="1800" spc="-5" dirty="0">
                <a:solidFill>
                  <a:srgbClr val="000004"/>
                </a:solidFill>
                <a:latin typeface="Times New Roman"/>
                <a:cs typeface="Times New Roman"/>
              </a:rPr>
              <a:t> </a:t>
            </a:r>
            <a:r>
              <a:rPr sz="1800" dirty="0">
                <a:solidFill>
                  <a:srgbClr val="000004"/>
                </a:solidFill>
                <a:latin typeface="Times New Roman"/>
                <a:cs typeface="Times New Roman"/>
              </a:rPr>
              <a:t>233,</a:t>
            </a:r>
            <a:r>
              <a:rPr sz="1800" spc="-45" dirty="0">
                <a:solidFill>
                  <a:srgbClr val="000004"/>
                </a:solidFill>
                <a:latin typeface="Times New Roman"/>
                <a:cs typeface="Times New Roman"/>
              </a:rPr>
              <a:t> </a:t>
            </a:r>
            <a:r>
              <a:rPr sz="1800" dirty="0">
                <a:solidFill>
                  <a:srgbClr val="000004"/>
                </a:solidFill>
                <a:latin typeface="Times New Roman"/>
                <a:cs typeface="Times New Roman"/>
              </a:rPr>
              <a:t>155</a:t>
            </a:r>
            <a:r>
              <a:rPr sz="1800" spc="-35" dirty="0">
                <a:solidFill>
                  <a:srgbClr val="000004"/>
                </a:solidFill>
                <a:latin typeface="Times New Roman"/>
                <a:cs typeface="Times New Roman"/>
              </a:rPr>
              <a:t> </a:t>
            </a:r>
            <a:r>
              <a:rPr sz="1800" dirty="0">
                <a:solidFill>
                  <a:srgbClr val="000004"/>
                </a:solidFill>
                <a:latin typeface="Times New Roman"/>
                <a:cs typeface="Times New Roman"/>
              </a:rPr>
              <a:t>and</a:t>
            </a:r>
            <a:r>
              <a:rPr sz="1800" spc="-15" dirty="0">
                <a:solidFill>
                  <a:srgbClr val="000004"/>
                </a:solidFill>
                <a:latin typeface="Times New Roman"/>
                <a:cs typeface="Times New Roman"/>
              </a:rPr>
              <a:t> </a:t>
            </a:r>
            <a:r>
              <a:rPr sz="1800" dirty="0">
                <a:solidFill>
                  <a:srgbClr val="000004"/>
                </a:solidFill>
                <a:latin typeface="Times New Roman"/>
                <a:cs typeface="Times New Roman"/>
              </a:rPr>
              <a:t>237</a:t>
            </a:r>
            <a:r>
              <a:rPr sz="1800" spc="-15" dirty="0">
                <a:solidFill>
                  <a:srgbClr val="000004"/>
                </a:solidFill>
                <a:latin typeface="Times New Roman"/>
                <a:cs typeface="Times New Roman"/>
              </a:rPr>
              <a:t> </a:t>
            </a:r>
            <a:r>
              <a:rPr sz="1800" dirty="0">
                <a:solidFill>
                  <a:srgbClr val="000004"/>
                </a:solidFill>
                <a:latin typeface="Times New Roman"/>
                <a:cs typeface="Times New Roman"/>
              </a:rPr>
              <a:t>were</a:t>
            </a:r>
            <a:r>
              <a:rPr sz="1800" spc="15" dirty="0">
                <a:solidFill>
                  <a:srgbClr val="000004"/>
                </a:solidFill>
                <a:latin typeface="Times New Roman"/>
                <a:cs typeface="Times New Roman"/>
              </a:rPr>
              <a:t> </a:t>
            </a:r>
            <a:r>
              <a:rPr sz="1800" spc="-10" dirty="0">
                <a:solidFill>
                  <a:srgbClr val="000004"/>
                </a:solidFill>
                <a:latin typeface="Times New Roman"/>
                <a:cs typeface="Times New Roman"/>
              </a:rPr>
              <a:t>created.</a:t>
            </a:r>
            <a:endParaRPr sz="1800" dirty="0">
              <a:latin typeface="Times New Roman"/>
              <a:cs typeface="Times New Roman"/>
            </a:endParaRPr>
          </a:p>
          <a:p>
            <a:pPr marL="299085" indent="-286385">
              <a:lnSpc>
                <a:spcPct val="100000"/>
              </a:lnSpc>
              <a:buFont typeface="Arial"/>
              <a:buChar char="•"/>
              <a:tabLst>
                <a:tab pos="299085" algn="l"/>
              </a:tabLst>
            </a:pPr>
            <a:r>
              <a:rPr sz="1800" dirty="0">
                <a:solidFill>
                  <a:srgbClr val="000004"/>
                </a:solidFill>
                <a:latin typeface="Times New Roman"/>
                <a:cs typeface="Times New Roman"/>
              </a:rPr>
              <a:t>Following</a:t>
            </a:r>
            <a:r>
              <a:rPr sz="1800" spc="-50" dirty="0">
                <a:solidFill>
                  <a:srgbClr val="000004"/>
                </a:solidFill>
                <a:latin typeface="Times New Roman"/>
                <a:cs typeface="Times New Roman"/>
              </a:rPr>
              <a:t> </a:t>
            </a:r>
            <a:r>
              <a:rPr sz="1800" dirty="0">
                <a:solidFill>
                  <a:srgbClr val="000004"/>
                </a:solidFill>
                <a:latin typeface="Times New Roman"/>
                <a:cs typeface="Times New Roman"/>
              </a:rPr>
              <a:t>the</a:t>
            </a:r>
            <a:r>
              <a:rPr sz="1800" spc="-20" dirty="0">
                <a:solidFill>
                  <a:srgbClr val="000004"/>
                </a:solidFill>
                <a:latin typeface="Times New Roman"/>
                <a:cs typeface="Times New Roman"/>
              </a:rPr>
              <a:t> </a:t>
            </a:r>
            <a:r>
              <a:rPr sz="1800" dirty="0">
                <a:solidFill>
                  <a:srgbClr val="000004"/>
                </a:solidFill>
                <a:latin typeface="Times New Roman"/>
                <a:cs typeface="Times New Roman"/>
              </a:rPr>
              <a:t>implementation</a:t>
            </a:r>
            <a:r>
              <a:rPr sz="1800" spc="-5" dirty="0">
                <a:solidFill>
                  <a:srgbClr val="000004"/>
                </a:solidFill>
                <a:latin typeface="Times New Roman"/>
                <a:cs typeface="Times New Roman"/>
              </a:rPr>
              <a:t> </a:t>
            </a:r>
            <a:r>
              <a:rPr sz="1800" dirty="0">
                <a:solidFill>
                  <a:srgbClr val="000004"/>
                </a:solidFill>
                <a:latin typeface="Times New Roman"/>
                <a:cs typeface="Times New Roman"/>
              </a:rPr>
              <a:t>of</a:t>
            </a:r>
            <a:r>
              <a:rPr sz="1800" spc="-35" dirty="0">
                <a:solidFill>
                  <a:srgbClr val="000004"/>
                </a:solidFill>
                <a:latin typeface="Times New Roman"/>
                <a:cs typeface="Times New Roman"/>
              </a:rPr>
              <a:t> </a:t>
            </a:r>
            <a:r>
              <a:rPr sz="1800" dirty="0">
                <a:solidFill>
                  <a:srgbClr val="000004"/>
                </a:solidFill>
                <a:latin typeface="Times New Roman"/>
                <a:cs typeface="Times New Roman"/>
              </a:rPr>
              <a:t>the</a:t>
            </a:r>
            <a:r>
              <a:rPr sz="1800" spc="-20" dirty="0">
                <a:solidFill>
                  <a:srgbClr val="000004"/>
                </a:solidFill>
                <a:latin typeface="Times New Roman"/>
                <a:cs typeface="Times New Roman"/>
              </a:rPr>
              <a:t> </a:t>
            </a:r>
            <a:r>
              <a:rPr sz="1800" dirty="0">
                <a:solidFill>
                  <a:srgbClr val="000004"/>
                </a:solidFill>
                <a:latin typeface="Times New Roman"/>
                <a:cs typeface="Times New Roman"/>
              </a:rPr>
              <a:t>new</a:t>
            </a:r>
            <a:r>
              <a:rPr sz="1800" spc="-20" dirty="0">
                <a:solidFill>
                  <a:srgbClr val="000004"/>
                </a:solidFill>
                <a:latin typeface="Times New Roman"/>
                <a:cs typeface="Times New Roman"/>
              </a:rPr>
              <a:t> </a:t>
            </a:r>
            <a:r>
              <a:rPr sz="1800" dirty="0">
                <a:solidFill>
                  <a:srgbClr val="000004"/>
                </a:solidFill>
                <a:latin typeface="Times New Roman"/>
                <a:cs typeface="Times New Roman"/>
              </a:rPr>
              <a:t>shop</a:t>
            </a:r>
            <a:r>
              <a:rPr sz="1800" spc="-50" dirty="0">
                <a:solidFill>
                  <a:srgbClr val="000004"/>
                </a:solidFill>
                <a:latin typeface="Times New Roman"/>
                <a:cs typeface="Times New Roman"/>
              </a:rPr>
              <a:t> </a:t>
            </a:r>
            <a:r>
              <a:rPr sz="1800" dirty="0">
                <a:solidFill>
                  <a:srgbClr val="000004"/>
                </a:solidFill>
                <a:latin typeface="Times New Roman"/>
                <a:cs typeface="Times New Roman"/>
              </a:rPr>
              <a:t>design,</a:t>
            </a:r>
            <a:r>
              <a:rPr sz="1800" spc="-30" dirty="0">
                <a:solidFill>
                  <a:srgbClr val="000004"/>
                </a:solidFill>
                <a:latin typeface="Times New Roman"/>
                <a:cs typeface="Times New Roman"/>
              </a:rPr>
              <a:t> </a:t>
            </a:r>
            <a:r>
              <a:rPr sz="1800" dirty="0">
                <a:solidFill>
                  <a:srgbClr val="000004"/>
                </a:solidFill>
                <a:latin typeface="Times New Roman"/>
                <a:cs typeface="Times New Roman"/>
              </a:rPr>
              <a:t>the</a:t>
            </a:r>
            <a:r>
              <a:rPr sz="1800" spc="-20" dirty="0">
                <a:solidFill>
                  <a:srgbClr val="000004"/>
                </a:solidFill>
                <a:latin typeface="Times New Roman"/>
                <a:cs typeface="Times New Roman"/>
              </a:rPr>
              <a:t> </a:t>
            </a:r>
            <a:r>
              <a:rPr sz="1800" dirty="0">
                <a:solidFill>
                  <a:srgbClr val="000004"/>
                </a:solidFill>
                <a:latin typeface="Times New Roman"/>
                <a:cs typeface="Times New Roman"/>
              </a:rPr>
              <a:t>trial</a:t>
            </a:r>
            <a:r>
              <a:rPr sz="1800" spc="-25" dirty="0">
                <a:solidFill>
                  <a:srgbClr val="000004"/>
                </a:solidFill>
                <a:latin typeface="Times New Roman"/>
                <a:cs typeface="Times New Roman"/>
              </a:rPr>
              <a:t> </a:t>
            </a:r>
            <a:r>
              <a:rPr sz="1800" spc="-10" dirty="0">
                <a:solidFill>
                  <a:srgbClr val="000004"/>
                </a:solidFill>
                <a:latin typeface="Times New Roman"/>
                <a:cs typeface="Times New Roman"/>
              </a:rPr>
              <a:t>store's</a:t>
            </a:r>
            <a:endParaRPr sz="1800" dirty="0">
              <a:latin typeface="Times New Roman"/>
              <a:cs typeface="Times New Roman"/>
            </a:endParaRPr>
          </a:p>
          <a:p>
            <a:pPr marL="299085">
              <a:lnSpc>
                <a:spcPct val="100000"/>
              </a:lnSpc>
            </a:pPr>
            <a:r>
              <a:rPr sz="1800" dirty="0">
                <a:solidFill>
                  <a:srgbClr val="000004"/>
                </a:solidFill>
                <a:latin typeface="Times New Roman"/>
                <a:cs typeface="Times New Roman"/>
              </a:rPr>
              <a:t>effectiveness</a:t>
            </a:r>
            <a:r>
              <a:rPr sz="1800" spc="25" dirty="0">
                <a:solidFill>
                  <a:srgbClr val="000004"/>
                </a:solidFill>
                <a:latin typeface="Times New Roman"/>
                <a:cs typeface="Times New Roman"/>
              </a:rPr>
              <a:t> </a:t>
            </a:r>
            <a:r>
              <a:rPr sz="1800" dirty="0">
                <a:solidFill>
                  <a:srgbClr val="000004"/>
                </a:solidFill>
                <a:latin typeface="Times New Roman"/>
                <a:cs typeface="Times New Roman"/>
              </a:rPr>
              <a:t>and</a:t>
            </a:r>
            <a:r>
              <a:rPr sz="1800" spc="405" dirty="0">
                <a:solidFill>
                  <a:srgbClr val="000004"/>
                </a:solidFill>
                <a:latin typeface="Times New Roman"/>
                <a:cs typeface="Times New Roman"/>
              </a:rPr>
              <a:t> </a:t>
            </a:r>
            <a:r>
              <a:rPr sz="1800" dirty="0">
                <a:solidFill>
                  <a:srgbClr val="000004"/>
                </a:solidFill>
                <a:latin typeface="Times New Roman"/>
                <a:cs typeface="Times New Roman"/>
              </a:rPr>
              <a:t>the</a:t>
            </a:r>
            <a:r>
              <a:rPr sz="1800" spc="-65" dirty="0">
                <a:solidFill>
                  <a:srgbClr val="000004"/>
                </a:solidFill>
                <a:latin typeface="Times New Roman"/>
                <a:cs typeface="Times New Roman"/>
              </a:rPr>
              <a:t> </a:t>
            </a:r>
            <a:r>
              <a:rPr sz="1800" dirty="0">
                <a:solidFill>
                  <a:srgbClr val="000004"/>
                </a:solidFill>
                <a:latin typeface="Times New Roman"/>
                <a:cs typeface="Times New Roman"/>
              </a:rPr>
              <a:t>control</a:t>
            </a:r>
            <a:r>
              <a:rPr sz="1800" spc="-50" dirty="0">
                <a:solidFill>
                  <a:srgbClr val="000004"/>
                </a:solidFill>
                <a:latin typeface="Times New Roman"/>
                <a:cs typeface="Times New Roman"/>
              </a:rPr>
              <a:t> </a:t>
            </a:r>
            <a:r>
              <a:rPr sz="1800" dirty="0">
                <a:solidFill>
                  <a:srgbClr val="000004"/>
                </a:solidFill>
                <a:latin typeface="Times New Roman"/>
                <a:cs typeface="Times New Roman"/>
              </a:rPr>
              <a:t>store</a:t>
            </a:r>
            <a:r>
              <a:rPr sz="1800" spc="-55" dirty="0">
                <a:solidFill>
                  <a:srgbClr val="000004"/>
                </a:solidFill>
                <a:latin typeface="Times New Roman"/>
                <a:cs typeface="Times New Roman"/>
              </a:rPr>
              <a:t> </a:t>
            </a:r>
            <a:r>
              <a:rPr sz="1800" dirty="0">
                <a:solidFill>
                  <a:srgbClr val="000004"/>
                </a:solidFill>
                <a:latin typeface="Times New Roman"/>
                <a:cs typeface="Times New Roman"/>
              </a:rPr>
              <a:t>were</a:t>
            </a:r>
            <a:r>
              <a:rPr sz="1800" spc="5" dirty="0">
                <a:solidFill>
                  <a:srgbClr val="000004"/>
                </a:solidFill>
                <a:latin typeface="Times New Roman"/>
                <a:cs typeface="Times New Roman"/>
              </a:rPr>
              <a:t> </a:t>
            </a:r>
            <a:r>
              <a:rPr sz="1800" spc="-10" dirty="0">
                <a:solidFill>
                  <a:srgbClr val="000004"/>
                </a:solidFill>
                <a:latin typeface="Times New Roman"/>
                <a:cs typeface="Times New Roman"/>
              </a:rPr>
              <a:t>contrasted.</a:t>
            </a:r>
            <a:endParaRPr sz="1800" dirty="0">
              <a:latin typeface="Times New Roman"/>
              <a:cs typeface="Times New Roman"/>
            </a:endParaRPr>
          </a:p>
          <a:p>
            <a:pPr marL="299085" indent="-286385">
              <a:lnSpc>
                <a:spcPct val="100000"/>
              </a:lnSpc>
              <a:buFont typeface="Arial"/>
              <a:buChar char="•"/>
              <a:tabLst>
                <a:tab pos="299085" algn="l"/>
              </a:tabLst>
            </a:pPr>
            <a:r>
              <a:rPr sz="1800" dirty="0">
                <a:solidFill>
                  <a:srgbClr val="000004"/>
                </a:solidFill>
                <a:latin typeface="Times New Roman"/>
                <a:cs typeface="Times New Roman"/>
              </a:rPr>
              <a:t>During</a:t>
            </a:r>
            <a:r>
              <a:rPr sz="1800" spc="-55" dirty="0">
                <a:solidFill>
                  <a:srgbClr val="000004"/>
                </a:solidFill>
                <a:latin typeface="Times New Roman"/>
                <a:cs typeface="Times New Roman"/>
              </a:rPr>
              <a:t> </a:t>
            </a:r>
            <a:r>
              <a:rPr sz="1800" dirty="0">
                <a:solidFill>
                  <a:srgbClr val="000004"/>
                </a:solidFill>
                <a:latin typeface="Times New Roman"/>
                <a:cs typeface="Times New Roman"/>
              </a:rPr>
              <a:t>the</a:t>
            </a:r>
            <a:r>
              <a:rPr sz="1800" spc="-20" dirty="0">
                <a:solidFill>
                  <a:srgbClr val="000004"/>
                </a:solidFill>
                <a:latin typeface="Times New Roman"/>
                <a:cs typeface="Times New Roman"/>
              </a:rPr>
              <a:t> </a:t>
            </a:r>
            <a:r>
              <a:rPr sz="1800" dirty="0">
                <a:solidFill>
                  <a:srgbClr val="000004"/>
                </a:solidFill>
                <a:latin typeface="Times New Roman"/>
                <a:cs typeface="Times New Roman"/>
              </a:rPr>
              <a:t>trial</a:t>
            </a:r>
            <a:r>
              <a:rPr sz="1800" spc="-30" dirty="0">
                <a:solidFill>
                  <a:srgbClr val="000004"/>
                </a:solidFill>
                <a:latin typeface="Times New Roman"/>
                <a:cs typeface="Times New Roman"/>
              </a:rPr>
              <a:t> </a:t>
            </a:r>
            <a:r>
              <a:rPr sz="1800" dirty="0">
                <a:solidFill>
                  <a:srgbClr val="000004"/>
                </a:solidFill>
                <a:latin typeface="Times New Roman"/>
                <a:cs typeface="Times New Roman"/>
              </a:rPr>
              <a:t>period,</a:t>
            </a:r>
            <a:r>
              <a:rPr sz="1800" spc="-60" dirty="0">
                <a:solidFill>
                  <a:srgbClr val="000004"/>
                </a:solidFill>
                <a:latin typeface="Times New Roman"/>
                <a:cs typeface="Times New Roman"/>
              </a:rPr>
              <a:t> </a:t>
            </a:r>
            <a:r>
              <a:rPr sz="1800" dirty="0">
                <a:solidFill>
                  <a:srgbClr val="000004"/>
                </a:solidFill>
                <a:latin typeface="Times New Roman"/>
                <a:cs typeface="Times New Roman"/>
              </a:rPr>
              <a:t>the</a:t>
            </a:r>
            <a:r>
              <a:rPr sz="1800" spc="-20" dirty="0">
                <a:solidFill>
                  <a:srgbClr val="000004"/>
                </a:solidFill>
                <a:latin typeface="Times New Roman"/>
                <a:cs typeface="Times New Roman"/>
              </a:rPr>
              <a:t> </a:t>
            </a:r>
            <a:r>
              <a:rPr sz="1800" dirty="0">
                <a:solidFill>
                  <a:srgbClr val="000004"/>
                </a:solidFill>
                <a:latin typeface="Times New Roman"/>
                <a:cs typeface="Times New Roman"/>
              </a:rPr>
              <a:t>trial</a:t>
            </a:r>
            <a:r>
              <a:rPr sz="1800" spc="-30" dirty="0">
                <a:solidFill>
                  <a:srgbClr val="000004"/>
                </a:solidFill>
                <a:latin typeface="Times New Roman"/>
                <a:cs typeface="Times New Roman"/>
              </a:rPr>
              <a:t> </a:t>
            </a:r>
            <a:r>
              <a:rPr sz="1800" dirty="0">
                <a:solidFill>
                  <a:srgbClr val="000004"/>
                </a:solidFill>
                <a:latin typeface="Times New Roman"/>
                <a:cs typeface="Times New Roman"/>
              </a:rPr>
              <a:t>in</a:t>
            </a:r>
            <a:r>
              <a:rPr sz="1800" spc="-5" dirty="0">
                <a:solidFill>
                  <a:srgbClr val="000004"/>
                </a:solidFill>
                <a:latin typeface="Times New Roman"/>
                <a:cs typeface="Times New Roman"/>
              </a:rPr>
              <a:t> </a:t>
            </a:r>
            <a:r>
              <a:rPr sz="1800" dirty="0">
                <a:solidFill>
                  <a:srgbClr val="000004"/>
                </a:solidFill>
                <a:latin typeface="Times New Roman"/>
                <a:cs typeface="Times New Roman"/>
              </a:rPr>
              <a:t>stores</a:t>
            </a:r>
            <a:r>
              <a:rPr sz="1800" spc="-40" dirty="0">
                <a:solidFill>
                  <a:srgbClr val="000004"/>
                </a:solidFill>
                <a:latin typeface="Times New Roman"/>
                <a:cs typeface="Times New Roman"/>
              </a:rPr>
              <a:t> </a:t>
            </a:r>
            <a:r>
              <a:rPr sz="1800" dirty="0">
                <a:solidFill>
                  <a:srgbClr val="000004"/>
                </a:solidFill>
                <a:latin typeface="Times New Roman"/>
                <a:cs typeface="Times New Roman"/>
              </a:rPr>
              <a:t>77</a:t>
            </a:r>
            <a:r>
              <a:rPr sz="1800" spc="-25" dirty="0">
                <a:solidFill>
                  <a:srgbClr val="000004"/>
                </a:solidFill>
                <a:latin typeface="Times New Roman"/>
                <a:cs typeface="Times New Roman"/>
              </a:rPr>
              <a:t> </a:t>
            </a:r>
            <a:r>
              <a:rPr sz="1800" dirty="0">
                <a:solidFill>
                  <a:srgbClr val="000004"/>
                </a:solidFill>
                <a:latin typeface="Times New Roman"/>
                <a:cs typeface="Times New Roman"/>
              </a:rPr>
              <a:t>and</a:t>
            </a:r>
            <a:r>
              <a:rPr sz="1800" spc="-30" dirty="0">
                <a:solidFill>
                  <a:srgbClr val="000004"/>
                </a:solidFill>
                <a:latin typeface="Times New Roman"/>
                <a:cs typeface="Times New Roman"/>
              </a:rPr>
              <a:t> </a:t>
            </a:r>
            <a:r>
              <a:rPr sz="1800" dirty="0">
                <a:solidFill>
                  <a:srgbClr val="000004"/>
                </a:solidFill>
                <a:latin typeface="Times New Roman"/>
                <a:cs typeface="Times New Roman"/>
              </a:rPr>
              <a:t>86</a:t>
            </a:r>
            <a:r>
              <a:rPr sz="1800" spc="-25" dirty="0">
                <a:solidFill>
                  <a:srgbClr val="000004"/>
                </a:solidFill>
                <a:latin typeface="Times New Roman"/>
                <a:cs typeface="Times New Roman"/>
              </a:rPr>
              <a:t> </a:t>
            </a:r>
            <a:r>
              <a:rPr sz="1800" dirty="0">
                <a:solidFill>
                  <a:srgbClr val="000004"/>
                </a:solidFill>
                <a:latin typeface="Times New Roman"/>
                <a:cs typeface="Times New Roman"/>
              </a:rPr>
              <a:t>differed</a:t>
            </a:r>
            <a:r>
              <a:rPr sz="1800" spc="15" dirty="0">
                <a:solidFill>
                  <a:srgbClr val="000004"/>
                </a:solidFill>
                <a:latin typeface="Times New Roman"/>
                <a:cs typeface="Times New Roman"/>
              </a:rPr>
              <a:t> </a:t>
            </a:r>
            <a:r>
              <a:rPr sz="1800" dirty="0">
                <a:solidFill>
                  <a:srgbClr val="000004"/>
                </a:solidFill>
                <a:latin typeface="Times New Roman"/>
                <a:cs typeface="Times New Roman"/>
              </a:rPr>
              <a:t>considerably</a:t>
            </a:r>
            <a:r>
              <a:rPr sz="1800" spc="-45" dirty="0">
                <a:solidFill>
                  <a:srgbClr val="000004"/>
                </a:solidFill>
                <a:latin typeface="Times New Roman"/>
                <a:cs typeface="Times New Roman"/>
              </a:rPr>
              <a:t> </a:t>
            </a:r>
            <a:r>
              <a:rPr sz="1800" spc="-20" dirty="0">
                <a:solidFill>
                  <a:srgbClr val="000004"/>
                </a:solidFill>
                <a:latin typeface="Times New Roman"/>
                <a:cs typeface="Times New Roman"/>
              </a:rPr>
              <a:t>from</a:t>
            </a:r>
            <a:endParaRPr sz="1800" dirty="0">
              <a:latin typeface="Times New Roman"/>
              <a:cs typeface="Times New Roman"/>
            </a:endParaRPr>
          </a:p>
          <a:p>
            <a:pPr marL="299085">
              <a:lnSpc>
                <a:spcPct val="100000"/>
              </a:lnSpc>
            </a:pPr>
            <a:r>
              <a:rPr sz="1800" dirty="0">
                <a:solidFill>
                  <a:srgbClr val="000004"/>
                </a:solidFill>
                <a:latin typeface="Times New Roman"/>
                <a:cs typeface="Times New Roman"/>
              </a:rPr>
              <a:t>the</a:t>
            </a:r>
            <a:r>
              <a:rPr sz="1800" spc="-45" dirty="0">
                <a:solidFill>
                  <a:srgbClr val="000004"/>
                </a:solidFill>
                <a:latin typeface="Times New Roman"/>
                <a:cs typeface="Times New Roman"/>
              </a:rPr>
              <a:t> </a:t>
            </a:r>
            <a:r>
              <a:rPr sz="1800" dirty="0">
                <a:solidFill>
                  <a:srgbClr val="000004"/>
                </a:solidFill>
                <a:latin typeface="Times New Roman"/>
                <a:cs typeface="Times New Roman"/>
              </a:rPr>
              <a:t>control</a:t>
            </a:r>
            <a:r>
              <a:rPr sz="1800" spc="-30" dirty="0">
                <a:solidFill>
                  <a:srgbClr val="000004"/>
                </a:solidFill>
                <a:latin typeface="Times New Roman"/>
                <a:cs typeface="Times New Roman"/>
              </a:rPr>
              <a:t> </a:t>
            </a:r>
            <a:r>
              <a:rPr sz="1800" dirty="0">
                <a:solidFill>
                  <a:srgbClr val="000004"/>
                </a:solidFill>
                <a:latin typeface="Times New Roman"/>
                <a:cs typeface="Times New Roman"/>
              </a:rPr>
              <a:t>store</a:t>
            </a:r>
            <a:r>
              <a:rPr sz="1800" spc="-40" dirty="0">
                <a:solidFill>
                  <a:srgbClr val="000004"/>
                </a:solidFill>
                <a:latin typeface="Times New Roman"/>
                <a:cs typeface="Times New Roman"/>
              </a:rPr>
              <a:t> </a:t>
            </a:r>
            <a:r>
              <a:rPr sz="1800" dirty="0">
                <a:solidFill>
                  <a:srgbClr val="000004"/>
                </a:solidFill>
                <a:latin typeface="Times New Roman"/>
                <a:cs typeface="Times New Roman"/>
              </a:rPr>
              <a:t>in</a:t>
            </a:r>
            <a:r>
              <a:rPr sz="1800" spc="-10" dirty="0">
                <a:solidFill>
                  <a:srgbClr val="000004"/>
                </a:solidFill>
                <a:latin typeface="Times New Roman"/>
                <a:cs typeface="Times New Roman"/>
              </a:rPr>
              <a:t> </a:t>
            </a:r>
            <a:r>
              <a:rPr sz="1800" dirty="0">
                <a:solidFill>
                  <a:srgbClr val="000004"/>
                </a:solidFill>
                <a:latin typeface="Times New Roman"/>
                <a:cs typeface="Times New Roman"/>
              </a:rPr>
              <a:t>terms</a:t>
            </a:r>
            <a:r>
              <a:rPr sz="1800" spc="35" dirty="0">
                <a:solidFill>
                  <a:srgbClr val="000004"/>
                </a:solidFill>
                <a:latin typeface="Times New Roman"/>
                <a:cs typeface="Times New Roman"/>
              </a:rPr>
              <a:t> </a:t>
            </a:r>
            <a:r>
              <a:rPr sz="1800" dirty="0">
                <a:solidFill>
                  <a:srgbClr val="000004"/>
                </a:solidFill>
                <a:latin typeface="Times New Roman"/>
                <a:cs typeface="Times New Roman"/>
              </a:rPr>
              <a:t>of</a:t>
            </a:r>
            <a:r>
              <a:rPr sz="1800" spc="-35" dirty="0">
                <a:solidFill>
                  <a:srgbClr val="000004"/>
                </a:solidFill>
                <a:latin typeface="Times New Roman"/>
                <a:cs typeface="Times New Roman"/>
              </a:rPr>
              <a:t> </a:t>
            </a:r>
            <a:r>
              <a:rPr sz="1800" dirty="0">
                <a:solidFill>
                  <a:srgbClr val="000004"/>
                </a:solidFill>
                <a:latin typeface="Times New Roman"/>
                <a:cs typeface="Times New Roman"/>
              </a:rPr>
              <a:t>both</a:t>
            </a:r>
            <a:r>
              <a:rPr sz="1800" spc="-40" dirty="0">
                <a:solidFill>
                  <a:srgbClr val="000004"/>
                </a:solidFill>
                <a:latin typeface="Times New Roman"/>
                <a:cs typeface="Times New Roman"/>
              </a:rPr>
              <a:t> </a:t>
            </a:r>
            <a:r>
              <a:rPr sz="1800" dirty="0">
                <a:solidFill>
                  <a:srgbClr val="000004"/>
                </a:solidFill>
                <a:latin typeface="Times New Roman"/>
                <a:cs typeface="Times New Roman"/>
              </a:rPr>
              <a:t>sales</a:t>
            </a:r>
            <a:r>
              <a:rPr sz="1800" spc="5" dirty="0">
                <a:solidFill>
                  <a:srgbClr val="000004"/>
                </a:solidFill>
                <a:latin typeface="Times New Roman"/>
                <a:cs typeface="Times New Roman"/>
              </a:rPr>
              <a:t> </a:t>
            </a:r>
            <a:r>
              <a:rPr sz="1800" dirty="0">
                <a:solidFill>
                  <a:srgbClr val="000004"/>
                </a:solidFill>
                <a:latin typeface="Times New Roman"/>
                <a:cs typeface="Times New Roman"/>
              </a:rPr>
              <a:t>and</a:t>
            </a:r>
            <a:r>
              <a:rPr sz="1800" spc="-15" dirty="0">
                <a:solidFill>
                  <a:srgbClr val="000004"/>
                </a:solidFill>
                <a:latin typeface="Times New Roman"/>
                <a:cs typeface="Times New Roman"/>
              </a:rPr>
              <a:t> </a:t>
            </a:r>
            <a:r>
              <a:rPr sz="1800" dirty="0">
                <a:solidFill>
                  <a:srgbClr val="000004"/>
                </a:solidFill>
                <a:latin typeface="Times New Roman"/>
                <a:cs typeface="Times New Roman"/>
              </a:rPr>
              <a:t>customer</a:t>
            </a:r>
            <a:r>
              <a:rPr sz="1800" spc="15" dirty="0">
                <a:solidFill>
                  <a:srgbClr val="000004"/>
                </a:solidFill>
                <a:latin typeface="Times New Roman"/>
                <a:cs typeface="Times New Roman"/>
              </a:rPr>
              <a:t> </a:t>
            </a:r>
            <a:r>
              <a:rPr sz="1800" spc="-10" dirty="0">
                <a:solidFill>
                  <a:srgbClr val="000004"/>
                </a:solidFill>
                <a:latin typeface="Times New Roman"/>
                <a:cs typeface="Times New Roman"/>
              </a:rPr>
              <a:t>count.</a:t>
            </a:r>
            <a:endParaRPr sz="1800" dirty="0">
              <a:latin typeface="Times New Roman"/>
              <a:cs typeface="Times New Roman"/>
            </a:endParaRPr>
          </a:p>
          <a:p>
            <a:pPr marL="299085" marR="5080" indent="-287020">
              <a:lnSpc>
                <a:spcPct val="100000"/>
              </a:lnSpc>
              <a:spcBef>
                <a:spcPts val="5"/>
              </a:spcBef>
              <a:buFont typeface="Arial"/>
              <a:buChar char="•"/>
              <a:tabLst>
                <a:tab pos="299085" algn="l"/>
              </a:tabLst>
            </a:pPr>
            <a:r>
              <a:rPr sz="1800" dirty="0">
                <a:solidFill>
                  <a:srgbClr val="000004"/>
                </a:solidFill>
                <a:latin typeface="Times New Roman"/>
                <a:cs typeface="Times New Roman"/>
              </a:rPr>
              <a:t>However,</a:t>
            </a:r>
            <a:r>
              <a:rPr sz="1800" spc="20" dirty="0">
                <a:solidFill>
                  <a:srgbClr val="000004"/>
                </a:solidFill>
                <a:latin typeface="Times New Roman"/>
                <a:cs typeface="Times New Roman"/>
              </a:rPr>
              <a:t> </a:t>
            </a:r>
            <a:r>
              <a:rPr sz="1800" dirty="0">
                <a:solidFill>
                  <a:srgbClr val="000004"/>
                </a:solidFill>
                <a:latin typeface="Times New Roman"/>
                <a:cs typeface="Times New Roman"/>
              </a:rPr>
              <a:t>as</a:t>
            </a:r>
            <a:r>
              <a:rPr sz="1800" spc="-25" dirty="0">
                <a:solidFill>
                  <a:srgbClr val="000004"/>
                </a:solidFill>
                <a:latin typeface="Times New Roman"/>
                <a:cs typeface="Times New Roman"/>
              </a:rPr>
              <a:t> </a:t>
            </a:r>
            <a:r>
              <a:rPr sz="1800" dirty="0">
                <a:solidFill>
                  <a:srgbClr val="000004"/>
                </a:solidFill>
                <a:latin typeface="Times New Roman"/>
                <a:cs typeface="Times New Roman"/>
              </a:rPr>
              <a:t>compared</a:t>
            </a:r>
            <a:r>
              <a:rPr sz="1800" spc="-20" dirty="0">
                <a:solidFill>
                  <a:srgbClr val="000004"/>
                </a:solidFill>
                <a:latin typeface="Times New Roman"/>
                <a:cs typeface="Times New Roman"/>
              </a:rPr>
              <a:t> </a:t>
            </a:r>
            <a:r>
              <a:rPr sz="1800" dirty="0">
                <a:solidFill>
                  <a:srgbClr val="000004"/>
                </a:solidFill>
                <a:latin typeface="Times New Roman"/>
                <a:cs typeface="Times New Roman"/>
              </a:rPr>
              <a:t>to</a:t>
            </a:r>
            <a:r>
              <a:rPr sz="1800" spc="-35" dirty="0">
                <a:solidFill>
                  <a:srgbClr val="000004"/>
                </a:solidFill>
                <a:latin typeface="Times New Roman"/>
                <a:cs typeface="Times New Roman"/>
              </a:rPr>
              <a:t> </a:t>
            </a:r>
            <a:r>
              <a:rPr sz="1800" dirty="0">
                <a:solidFill>
                  <a:srgbClr val="000004"/>
                </a:solidFill>
                <a:latin typeface="Times New Roman"/>
                <a:cs typeface="Times New Roman"/>
              </a:rPr>
              <a:t>its</a:t>
            </a:r>
            <a:r>
              <a:rPr sz="1800" spc="-25" dirty="0">
                <a:solidFill>
                  <a:srgbClr val="000004"/>
                </a:solidFill>
                <a:latin typeface="Times New Roman"/>
                <a:cs typeface="Times New Roman"/>
              </a:rPr>
              <a:t> </a:t>
            </a:r>
            <a:r>
              <a:rPr sz="1800" dirty="0">
                <a:solidFill>
                  <a:srgbClr val="000004"/>
                </a:solidFill>
                <a:latin typeface="Times New Roman"/>
                <a:cs typeface="Times New Roman"/>
              </a:rPr>
              <a:t>control</a:t>
            </a:r>
            <a:r>
              <a:rPr sz="1800" spc="-70" dirty="0">
                <a:solidFill>
                  <a:srgbClr val="000004"/>
                </a:solidFill>
                <a:latin typeface="Times New Roman"/>
                <a:cs typeface="Times New Roman"/>
              </a:rPr>
              <a:t> </a:t>
            </a:r>
            <a:r>
              <a:rPr sz="1800" dirty="0">
                <a:solidFill>
                  <a:srgbClr val="000004"/>
                </a:solidFill>
                <a:latin typeface="Times New Roman"/>
                <a:cs typeface="Times New Roman"/>
              </a:rPr>
              <a:t>shop,</a:t>
            </a:r>
            <a:r>
              <a:rPr sz="1800" spc="-65" dirty="0">
                <a:solidFill>
                  <a:srgbClr val="000004"/>
                </a:solidFill>
                <a:latin typeface="Times New Roman"/>
                <a:cs typeface="Times New Roman"/>
              </a:rPr>
              <a:t> </a:t>
            </a:r>
            <a:r>
              <a:rPr sz="1800" dirty="0">
                <a:solidFill>
                  <a:srgbClr val="000004"/>
                </a:solidFill>
                <a:latin typeface="Times New Roman"/>
                <a:cs typeface="Times New Roman"/>
              </a:rPr>
              <a:t>the</a:t>
            </a:r>
            <a:r>
              <a:rPr sz="1800" spc="-30" dirty="0">
                <a:solidFill>
                  <a:srgbClr val="000004"/>
                </a:solidFill>
                <a:latin typeface="Times New Roman"/>
                <a:cs typeface="Times New Roman"/>
              </a:rPr>
              <a:t> </a:t>
            </a:r>
            <a:r>
              <a:rPr sz="1800" dirty="0">
                <a:solidFill>
                  <a:srgbClr val="000004"/>
                </a:solidFill>
                <a:latin typeface="Times New Roman"/>
                <a:cs typeface="Times New Roman"/>
              </a:rPr>
              <a:t>increase</a:t>
            </a:r>
            <a:r>
              <a:rPr sz="1800" spc="-40" dirty="0">
                <a:solidFill>
                  <a:srgbClr val="000004"/>
                </a:solidFill>
                <a:latin typeface="Times New Roman"/>
                <a:cs typeface="Times New Roman"/>
              </a:rPr>
              <a:t> </a:t>
            </a:r>
            <a:r>
              <a:rPr sz="1800" dirty="0">
                <a:solidFill>
                  <a:srgbClr val="000004"/>
                </a:solidFill>
                <a:latin typeface="Times New Roman"/>
                <a:cs typeface="Times New Roman"/>
              </a:rPr>
              <a:t>for</a:t>
            </a:r>
            <a:r>
              <a:rPr sz="1800" spc="-5" dirty="0">
                <a:solidFill>
                  <a:srgbClr val="000004"/>
                </a:solidFill>
                <a:latin typeface="Times New Roman"/>
                <a:cs typeface="Times New Roman"/>
              </a:rPr>
              <a:t> </a:t>
            </a:r>
            <a:r>
              <a:rPr sz="1800" dirty="0">
                <a:solidFill>
                  <a:srgbClr val="000004"/>
                </a:solidFill>
                <a:latin typeface="Times New Roman"/>
                <a:cs typeface="Times New Roman"/>
              </a:rPr>
              <a:t>trial</a:t>
            </a:r>
            <a:r>
              <a:rPr sz="1800" spc="-40" dirty="0">
                <a:solidFill>
                  <a:srgbClr val="000004"/>
                </a:solidFill>
                <a:latin typeface="Times New Roman"/>
                <a:cs typeface="Times New Roman"/>
              </a:rPr>
              <a:t> </a:t>
            </a:r>
            <a:r>
              <a:rPr sz="1800" dirty="0">
                <a:solidFill>
                  <a:srgbClr val="000004"/>
                </a:solidFill>
                <a:latin typeface="Times New Roman"/>
                <a:cs typeface="Times New Roman"/>
              </a:rPr>
              <a:t>store</a:t>
            </a:r>
            <a:r>
              <a:rPr sz="1800" spc="-35" dirty="0">
                <a:solidFill>
                  <a:srgbClr val="000004"/>
                </a:solidFill>
                <a:latin typeface="Times New Roman"/>
                <a:cs typeface="Times New Roman"/>
              </a:rPr>
              <a:t> </a:t>
            </a:r>
            <a:r>
              <a:rPr sz="1800" dirty="0">
                <a:solidFill>
                  <a:srgbClr val="000004"/>
                </a:solidFill>
                <a:latin typeface="Times New Roman"/>
                <a:cs typeface="Times New Roman"/>
              </a:rPr>
              <a:t>88</a:t>
            </a:r>
            <a:r>
              <a:rPr sz="1800" spc="-35" dirty="0">
                <a:solidFill>
                  <a:srgbClr val="000004"/>
                </a:solidFill>
                <a:latin typeface="Times New Roman"/>
                <a:cs typeface="Times New Roman"/>
              </a:rPr>
              <a:t> </a:t>
            </a:r>
            <a:r>
              <a:rPr sz="1800" dirty="0">
                <a:solidFill>
                  <a:srgbClr val="000004"/>
                </a:solidFill>
                <a:latin typeface="Times New Roman"/>
                <a:cs typeface="Times New Roman"/>
              </a:rPr>
              <a:t>was</a:t>
            </a:r>
            <a:r>
              <a:rPr sz="1800" spc="-10" dirty="0">
                <a:solidFill>
                  <a:srgbClr val="000004"/>
                </a:solidFill>
                <a:latin typeface="Times New Roman"/>
                <a:cs typeface="Times New Roman"/>
              </a:rPr>
              <a:t> </a:t>
            </a:r>
            <a:r>
              <a:rPr sz="1800" spc="-25" dirty="0">
                <a:solidFill>
                  <a:srgbClr val="000004"/>
                </a:solidFill>
                <a:latin typeface="Times New Roman"/>
                <a:cs typeface="Times New Roman"/>
              </a:rPr>
              <a:t>not </a:t>
            </a:r>
            <a:r>
              <a:rPr sz="1800" dirty="0">
                <a:solidFill>
                  <a:srgbClr val="000004"/>
                </a:solidFill>
                <a:latin typeface="Times New Roman"/>
                <a:cs typeface="Times New Roman"/>
              </a:rPr>
              <a:t>that</a:t>
            </a:r>
            <a:r>
              <a:rPr sz="1800" spc="-25" dirty="0">
                <a:solidFill>
                  <a:srgbClr val="000004"/>
                </a:solidFill>
                <a:latin typeface="Times New Roman"/>
                <a:cs typeface="Times New Roman"/>
              </a:rPr>
              <a:t> </a:t>
            </a:r>
            <a:r>
              <a:rPr sz="1800" spc="-10" dirty="0">
                <a:solidFill>
                  <a:srgbClr val="000004"/>
                </a:solidFill>
                <a:latin typeface="Times New Roman"/>
                <a:cs typeface="Times New Roman"/>
              </a:rPr>
              <a:t>substantial.</a:t>
            </a:r>
            <a:endParaRPr sz="1800" dirty="0">
              <a:latin typeface="Times New Roman"/>
              <a:cs typeface="Times New Roman"/>
            </a:endParaRPr>
          </a:p>
        </p:txBody>
      </p:sp>
      <p:sp>
        <p:nvSpPr>
          <p:cNvPr id="10" name="object 10">
            <a:extLst>
              <a:ext uri="{FF2B5EF4-FFF2-40B4-BE49-F238E27FC236}">
                <a16:creationId xmlns:a16="http://schemas.microsoft.com/office/drawing/2014/main" id="{536AE209-6453-BCB2-BFE3-63FC2988FC5F}"/>
              </a:ext>
            </a:extLst>
          </p:cNvPr>
          <p:cNvSpPr txBox="1">
            <a:spLocks/>
          </p:cNvSpPr>
          <p:nvPr/>
        </p:nvSpPr>
        <p:spPr>
          <a:xfrm>
            <a:off x="4084607" y="1861607"/>
            <a:ext cx="7285355" cy="1931298"/>
          </a:xfrm>
          <a:prstGeom prst="rect">
            <a:avLst/>
          </a:prstGeom>
        </p:spPr>
        <p:txBody>
          <a:bodyPr vert="horz" wrap="square" lIns="0" tIns="1270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9085" marR="122555" indent="-287020" algn="just">
              <a:lnSpc>
                <a:spcPct val="100000"/>
              </a:lnSpc>
              <a:spcBef>
                <a:spcPts val="100"/>
              </a:spcBef>
              <a:buFont typeface="Arial"/>
              <a:buChar char="•"/>
              <a:tabLst>
                <a:tab pos="299085" algn="l"/>
              </a:tabLst>
            </a:pPr>
            <a:r>
              <a:rPr lang="en-US" sz="1800" spc="-30" dirty="0">
                <a:solidFill>
                  <a:srgbClr val="000004"/>
                </a:solidFill>
                <a:latin typeface="Times New Roman"/>
                <a:ea typeface="+mn-ea"/>
                <a:cs typeface="Times New Roman"/>
              </a:rPr>
              <a:t>The sales have climbed up until the day before Christmas, which is a good opportunity to </a:t>
            </a:r>
            <a:r>
              <a:rPr lang="en-US" sz="1800" spc="-30" dirty="0" err="1">
                <a:solidFill>
                  <a:srgbClr val="000004"/>
                </a:solidFill>
                <a:latin typeface="Times New Roman"/>
                <a:ea typeface="+mn-ea"/>
                <a:cs typeface="Times New Roman"/>
              </a:rPr>
              <a:t>capitalise</a:t>
            </a:r>
            <a:r>
              <a:rPr lang="en-US" sz="1800" spc="-30" dirty="0">
                <a:solidFill>
                  <a:srgbClr val="000004"/>
                </a:solidFill>
                <a:latin typeface="Times New Roman"/>
                <a:ea typeface="+mn-ea"/>
                <a:cs typeface="Times New Roman"/>
              </a:rPr>
              <a:t> on this momentum with special offers to boost the purchases. However, the sales also decreased after Christmas.</a:t>
            </a:r>
          </a:p>
          <a:p>
            <a:pPr marL="299085" indent="-286385" algn="just">
              <a:lnSpc>
                <a:spcPct val="100000"/>
              </a:lnSpc>
              <a:buFont typeface="Arial"/>
              <a:buChar char="•"/>
              <a:tabLst>
                <a:tab pos="299085" algn="l"/>
              </a:tabLst>
            </a:pPr>
            <a:r>
              <a:rPr lang="en-US" sz="1800" spc="-30" dirty="0">
                <a:solidFill>
                  <a:srgbClr val="000004"/>
                </a:solidFill>
                <a:latin typeface="Times New Roman"/>
                <a:ea typeface="+mn-ea"/>
                <a:cs typeface="Times New Roman"/>
              </a:rPr>
              <a:t>Mainstream young singles/couples contribute most to the sales.</a:t>
            </a:r>
          </a:p>
          <a:p>
            <a:pPr marL="298450" indent="-285750" algn="just">
              <a:lnSpc>
                <a:spcPct val="100000"/>
              </a:lnSpc>
              <a:buFont typeface="Arial"/>
              <a:buChar char="•"/>
              <a:tabLst>
                <a:tab pos="298450" algn="l"/>
              </a:tabLst>
            </a:pPr>
            <a:r>
              <a:rPr lang="en-US" sz="1800" spc="-30" dirty="0">
                <a:solidFill>
                  <a:srgbClr val="000004"/>
                </a:solidFill>
                <a:latin typeface="Times New Roman"/>
                <a:ea typeface="+mn-ea"/>
                <a:cs typeface="Times New Roman"/>
              </a:rPr>
              <a:t>Older families and young families, who make up our target market for sales,</a:t>
            </a:r>
          </a:p>
          <a:p>
            <a:pPr marL="299085" algn="just">
              <a:lnSpc>
                <a:spcPct val="100000"/>
              </a:lnSpc>
              <a:spcBef>
                <a:spcPts val="5"/>
              </a:spcBef>
            </a:pPr>
            <a:r>
              <a:rPr lang="en-US" sz="1800" spc="-30" dirty="0">
                <a:solidFill>
                  <a:srgbClr val="000004"/>
                </a:solidFill>
                <a:latin typeface="Times New Roman"/>
                <a:ea typeface="+mn-ea"/>
                <a:cs typeface="Times New Roman"/>
              </a:rPr>
              <a:t>purchase more chips overall for all three Life stages.</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6" name="object 3">
            <a:extLst>
              <a:ext uri="{FF2B5EF4-FFF2-40B4-BE49-F238E27FC236}">
                <a16:creationId xmlns:a16="http://schemas.microsoft.com/office/drawing/2014/main" id="{3BBA2D25-70C7-C8FA-F5F0-971255A56343}"/>
              </a:ext>
            </a:extLst>
          </p:cNvPr>
          <p:cNvSpPr txBox="1">
            <a:spLocks noGrp="1"/>
          </p:cNvSpPr>
          <p:nvPr>
            <p:ph type="body" sz="quarter" idx="10"/>
          </p:nvPr>
        </p:nvSpPr>
        <p:spPr>
          <a:xfrm>
            <a:off x="1196975" y="454025"/>
            <a:ext cx="10479088" cy="823913"/>
          </a:xfrm>
          <a:prstGeom prst="rect">
            <a:avLst/>
          </a:prstGeom>
        </p:spPr>
        <p:txBody>
          <a:bodyPr vert="horz" wrap="square" lIns="0" tIns="12700" rIns="0" bIns="0" rtlCol="0">
            <a:spAutoFit/>
          </a:bodyPr>
          <a:lstStyle/>
          <a:p>
            <a:pPr marL="12700" marR="5080">
              <a:lnSpc>
                <a:spcPct val="100000"/>
              </a:lnSpc>
              <a:spcBef>
                <a:spcPts val="100"/>
              </a:spcBef>
            </a:pPr>
            <a:r>
              <a:rPr spc="135" dirty="0">
                <a:latin typeface="Gill Sans MT"/>
                <a:cs typeface="Gill Sans MT"/>
              </a:rPr>
              <a:t>As</a:t>
            </a:r>
            <a:r>
              <a:rPr spc="-55" dirty="0">
                <a:latin typeface="Gill Sans MT"/>
                <a:cs typeface="Gill Sans MT"/>
              </a:rPr>
              <a:t> </a:t>
            </a:r>
            <a:r>
              <a:rPr spc="110" dirty="0">
                <a:latin typeface="Gill Sans MT"/>
                <a:cs typeface="Gill Sans MT"/>
              </a:rPr>
              <a:t>Christmas</a:t>
            </a:r>
            <a:r>
              <a:rPr spc="-70" dirty="0">
                <a:latin typeface="Gill Sans MT"/>
                <a:cs typeface="Gill Sans MT"/>
              </a:rPr>
              <a:t> </a:t>
            </a:r>
            <a:r>
              <a:rPr spc="120" dirty="0">
                <a:latin typeface="Gill Sans MT"/>
                <a:cs typeface="Gill Sans MT"/>
              </a:rPr>
              <a:t>approaches,</a:t>
            </a:r>
            <a:r>
              <a:rPr spc="-25" dirty="0">
                <a:latin typeface="Gill Sans MT"/>
                <a:cs typeface="Gill Sans MT"/>
              </a:rPr>
              <a:t> </a:t>
            </a:r>
            <a:r>
              <a:rPr spc="204" dirty="0">
                <a:latin typeface="Gill Sans MT"/>
                <a:cs typeface="Gill Sans MT"/>
              </a:rPr>
              <a:t>sales</a:t>
            </a:r>
            <a:r>
              <a:rPr spc="-50" dirty="0">
                <a:latin typeface="Gill Sans MT"/>
                <a:cs typeface="Gill Sans MT"/>
              </a:rPr>
              <a:t> </a:t>
            </a:r>
            <a:r>
              <a:rPr spc="125" dirty="0">
                <a:latin typeface="Gill Sans MT"/>
                <a:cs typeface="Gill Sans MT"/>
              </a:rPr>
              <a:t>gradually</a:t>
            </a:r>
            <a:r>
              <a:rPr spc="-15" dirty="0">
                <a:latin typeface="Gill Sans MT"/>
                <a:cs typeface="Gill Sans MT"/>
              </a:rPr>
              <a:t> </a:t>
            </a:r>
            <a:r>
              <a:rPr spc="70" dirty="0">
                <a:latin typeface="Gill Sans MT"/>
                <a:cs typeface="Gill Sans MT"/>
              </a:rPr>
              <a:t>grow.</a:t>
            </a:r>
            <a:r>
              <a:rPr spc="-40" dirty="0">
                <a:latin typeface="Gill Sans MT"/>
                <a:cs typeface="Gill Sans MT"/>
              </a:rPr>
              <a:t> </a:t>
            </a:r>
            <a:r>
              <a:rPr spc="-120" dirty="0">
                <a:latin typeface="Gill Sans MT"/>
                <a:cs typeface="Gill Sans MT"/>
              </a:rPr>
              <a:t>On</a:t>
            </a:r>
            <a:r>
              <a:rPr spc="-60" dirty="0">
                <a:latin typeface="Gill Sans MT"/>
                <a:cs typeface="Gill Sans MT"/>
              </a:rPr>
              <a:t> </a:t>
            </a:r>
            <a:r>
              <a:rPr dirty="0">
                <a:latin typeface="Gill Sans MT"/>
                <a:cs typeface="Gill Sans MT"/>
              </a:rPr>
              <a:t>New</a:t>
            </a:r>
            <a:r>
              <a:rPr spc="-40" dirty="0">
                <a:latin typeface="Gill Sans MT"/>
                <a:cs typeface="Gill Sans MT"/>
              </a:rPr>
              <a:t> </a:t>
            </a:r>
            <a:r>
              <a:rPr spc="80" dirty="0">
                <a:latin typeface="Gill Sans MT"/>
                <a:cs typeface="Gill Sans MT"/>
              </a:rPr>
              <a:t>Year's</a:t>
            </a:r>
            <a:r>
              <a:rPr spc="-50" dirty="0">
                <a:latin typeface="Gill Sans MT"/>
                <a:cs typeface="Gill Sans MT"/>
              </a:rPr>
              <a:t> </a:t>
            </a:r>
            <a:r>
              <a:rPr spc="70" dirty="0">
                <a:latin typeface="Gill Sans MT"/>
                <a:cs typeface="Gill Sans MT"/>
              </a:rPr>
              <a:t>Eve,</a:t>
            </a:r>
            <a:r>
              <a:rPr spc="-60" dirty="0">
                <a:latin typeface="Gill Sans MT"/>
                <a:cs typeface="Gill Sans MT"/>
              </a:rPr>
              <a:t> </a:t>
            </a:r>
            <a:r>
              <a:rPr spc="45" dirty="0">
                <a:latin typeface="Gill Sans MT"/>
                <a:cs typeface="Gill Sans MT"/>
              </a:rPr>
              <a:t>they </a:t>
            </a:r>
            <a:r>
              <a:rPr spc="120" dirty="0">
                <a:latin typeface="Gill Sans MT"/>
                <a:cs typeface="Gill Sans MT"/>
              </a:rPr>
              <a:t>resume</a:t>
            </a:r>
            <a:r>
              <a:rPr spc="-40" dirty="0">
                <a:latin typeface="Gill Sans MT"/>
                <a:cs typeface="Gill Sans MT"/>
              </a:rPr>
              <a:t> </a:t>
            </a:r>
            <a:r>
              <a:rPr dirty="0">
                <a:latin typeface="Gill Sans MT"/>
                <a:cs typeface="Gill Sans MT"/>
              </a:rPr>
              <a:t>their</a:t>
            </a:r>
            <a:r>
              <a:rPr spc="5" dirty="0">
                <a:latin typeface="Gill Sans MT"/>
                <a:cs typeface="Gill Sans MT"/>
              </a:rPr>
              <a:t> </a:t>
            </a:r>
            <a:r>
              <a:rPr spc="70" dirty="0">
                <a:latin typeface="Gill Sans MT"/>
                <a:cs typeface="Gill Sans MT"/>
              </a:rPr>
              <a:t>early</a:t>
            </a:r>
            <a:r>
              <a:rPr spc="-10" dirty="0">
                <a:latin typeface="Gill Sans MT"/>
                <a:cs typeface="Gill Sans MT"/>
              </a:rPr>
              <a:t> </a:t>
            </a:r>
            <a:r>
              <a:rPr spc="70" dirty="0">
                <a:latin typeface="Gill Sans MT"/>
                <a:cs typeface="Gill Sans MT"/>
              </a:rPr>
              <a:t>December</a:t>
            </a:r>
            <a:r>
              <a:rPr spc="-10" dirty="0">
                <a:latin typeface="Gill Sans MT"/>
                <a:cs typeface="Gill Sans MT"/>
              </a:rPr>
              <a:t> </a:t>
            </a:r>
            <a:r>
              <a:rPr spc="114" dirty="0">
                <a:latin typeface="Gill Sans MT"/>
                <a:cs typeface="Gill Sans MT"/>
              </a:rPr>
              <a:t>levels.</a:t>
            </a:r>
            <a:r>
              <a:rPr spc="25" dirty="0">
                <a:latin typeface="Gill Sans MT"/>
                <a:cs typeface="Gill Sans MT"/>
              </a:rPr>
              <a:t> </a:t>
            </a:r>
            <a:r>
              <a:rPr dirty="0">
                <a:latin typeface="Gill Sans MT"/>
                <a:cs typeface="Gill Sans MT"/>
              </a:rPr>
              <a:t>However,</a:t>
            </a:r>
            <a:r>
              <a:rPr spc="15" dirty="0">
                <a:latin typeface="Gill Sans MT"/>
                <a:cs typeface="Gill Sans MT"/>
              </a:rPr>
              <a:t> </a:t>
            </a:r>
            <a:r>
              <a:rPr spc="180" dirty="0">
                <a:latin typeface="Gill Sans MT"/>
                <a:cs typeface="Gill Sans MT"/>
              </a:rPr>
              <a:t>because</a:t>
            </a:r>
            <a:r>
              <a:rPr spc="10" dirty="0">
                <a:latin typeface="Gill Sans MT"/>
                <a:cs typeface="Gill Sans MT"/>
              </a:rPr>
              <a:t> </a:t>
            </a:r>
            <a:r>
              <a:rPr spc="100" dirty="0">
                <a:latin typeface="Gill Sans MT"/>
                <a:cs typeface="Gill Sans MT"/>
              </a:rPr>
              <a:t>stores</a:t>
            </a:r>
            <a:r>
              <a:rPr spc="-35" dirty="0">
                <a:latin typeface="Gill Sans MT"/>
                <a:cs typeface="Gill Sans MT"/>
              </a:rPr>
              <a:t> </a:t>
            </a:r>
            <a:r>
              <a:rPr dirty="0">
                <a:latin typeface="Gill Sans MT"/>
                <a:cs typeface="Gill Sans MT"/>
              </a:rPr>
              <a:t>were</a:t>
            </a:r>
            <a:r>
              <a:rPr spc="-20" dirty="0">
                <a:latin typeface="Gill Sans MT"/>
                <a:cs typeface="Gill Sans MT"/>
              </a:rPr>
              <a:t> </a:t>
            </a:r>
            <a:r>
              <a:rPr spc="125" dirty="0">
                <a:latin typeface="Gill Sans MT"/>
                <a:cs typeface="Gill Sans MT"/>
              </a:rPr>
              <a:t>closed </a:t>
            </a:r>
            <a:r>
              <a:rPr dirty="0">
                <a:latin typeface="Gill Sans MT"/>
                <a:cs typeface="Gill Sans MT"/>
              </a:rPr>
              <a:t>for</a:t>
            </a:r>
            <a:r>
              <a:rPr spc="-25" dirty="0">
                <a:latin typeface="Gill Sans MT"/>
                <a:cs typeface="Gill Sans MT"/>
              </a:rPr>
              <a:t> </a:t>
            </a:r>
            <a:r>
              <a:rPr spc="95" dirty="0">
                <a:latin typeface="Gill Sans MT"/>
                <a:cs typeface="Gill Sans MT"/>
              </a:rPr>
              <a:t>Christmas,</a:t>
            </a:r>
            <a:r>
              <a:rPr spc="-45" dirty="0">
                <a:latin typeface="Gill Sans MT"/>
                <a:cs typeface="Gill Sans MT"/>
              </a:rPr>
              <a:t> </a:t>
            </a:r>
            <a:r>
              <a:rPr dirty="0">
                <a:latin typeface="Gill Sans MT"/>
                <a:cs typeface="Gill Sans MT"/>
              </a:rPr>
              <a:t>there</a:t>
            </a:r>
            <a:r>
              <a:rPr spc="-30" dirty="0">
                <a:latin typeface="Gill Sans MT"/>
                <a:cs typeface="Gill Sans MT"/>
              </a:rPr>
              <a:t> </a:t>
            </a:r>
            <a:r>
              <a:rPr dirty="0">
                <a:latin typeface="Gill Sans MT"/>
                <a:cs typeface="Gill Sans MT"/>
              </a:rPr>
              <a:t>were</a:t>
            </a:r>
            <a:r>
              <a:rPr spc="-30" dirty="0">
                <a:latin typeface="Gill Sans MT"/>
                <a:cs typeface="Gill Sans MT"/>
              </a:rPr>
              <a:t> </a:t>
            </a:r>
            <a:r>
              <a:rPr spc="70" dirty="0">
                <a:latin typeface="Gill Sans MT"/>
                <a:cs typeface="Gill Sans MT"/>
              </a:rPr>
              <a:t>no</a:t>
            </a:r>
            <a:r>
              <a:rPr spc="-10" dirty="0">
                <a:latin typeface="Gill Sans MT"/>
                <a:cs typeface="Gill Sans MT"/>
              </a:rPr>
              <a:t> </a:t>
            </a:r>
            <a:r>
              <a:rPr spc="204" dirty="0">
                <a:latin typeface="Gill Sans MT"/>
                <a:cs typeface="Gill Sans MT"/>
              </a:rPr>
              <a:t>sales</a:t>
            </a:r>
            <a:r>
              <a:rPr spc="-25" dirty="0">
                <a:latin typeface="Gill Sans MT"/>
                <a:cs typeface="Gill Sans MT"/>
              </a:rPr>
              <a:t> </a:t>
            </a:r>
            <a:r>
              <a:rPr spc="75" dirty="0">
                <a:latin typeface="Gill Sans MT"/>
                <a:cs typeface="Gill Sans MT"/>
              </a:rPr>
              <a:t>on</a:t>
            </a:r>
            <a:r>
              <a:rPr spc="-35" dirty="0">
                <a:latin typeface="Gill Sans MT"/>
                <a:cs typeface="Gill Sans MT"/>
              </a:rPr>
              <a:t> </a:t>
            </a:r>
            <a:r>
              <a:rPr spc="60" dirty="0">
                <a:latin typeface="Gill Sans MT"/>
                <a:cs typeface="Gill Sans MT"/>
              </a:rPr>
              <a:t>December</a:t>
            </a:r>
            <a:r>
              <a:rPr spc="-30" dirty="0">
                <a:latin typeface="Gill Sans MT"/>
                <a:cs typeface="Gill Sans MT"/>
              </a:rPr>
              <a:t> </a:t>
            </a:r>
            <a:r>
              <a:rPr spc="140" dirty="0">
                <a:latin typeface="Gill Sans MT"/>
                <a:cs typeface="Gill Sans MT"/>
              </a:rPr>
              <a:t>25</a:t>
            </a:r>
            <a:r>
              <a:rPr spc="-10" dirty="0">
                <a:latin typeface="Gill Sans MT"/>
                <a:cs typeface="Gill Sans MT"/>
              </a:rPr>
              <a:t> </a:t>
            </a:r>
            <a:r>
              <a:rPr spc="285" dirty="0">
                <a:latin typeface="Gill Sans MT"/>
                <a:cs typeface="Gill Sans MT"/>
              </a:rPr>
              <a:t>as</a:t>
            </a:r>
            <a:r>
              <a:rPr spc="-25" dirty="0">
                <a:latin typeface="Gill Sans MT"/>
                <a:cs typeface="Gill Sans MT"/>
              </a:rPr>
              <a:t> </a:t>
            </a:r>
            <a:r>
              <a:rPr spc="110" dirty="0">
                <a:latin typeface="Gill Sans MT"/>
                <a:cs typeface="Gill Sans MT"/>
              </a:rPr>
              <a:t>indicated</a:t>
            </a:r>
            <a:r>
              <a:rPr spc="10" dirty="0">
                <a:latin typeface="Gill Sans MT"/>
                <a:cs typeface="Gill Sans MT"/>
              </a:rPr>
              <a:t> </a:t>
            </a:r>
            <a:r>
              <a:rPr spc="110" dirty="0">
                <a:latin typeface="Gill Sans MT"/>
                <a:cs typeface="Gill Sans MT"/>
              </a:rPr>
              <a:t>by</a:t>
            </a:r>
            <a:r>
              <a:rPr spc="-20" dirty="0">
                <a:latin typeface="Gill Sans MT"/>
                <a:cs typeface="Gill Sans MT"/>
              </a:rPr>
              <a:t> </a:t>
            </a:r>
            <a:r>
              <a:rPr spc="70" dirty="0">
                <a:latin typeface="Gill Sans MT"/>
                <a:cs typeface="Gill Sans MT"/>
              </a:rPr>
              <a:t>the</a:t>
            </a:r>
            <a:r>
              <a:rPr spc="-35" dirty="0">
                <a:latin typeface="Gill Sans MT"/>
                <a:cs typeface="Gill Sans MT"/>
              </a:rPr>
              <a:t> </a:t>
            </a:r>
            <a:r>
              <a:rPr spc="75" dirty="0">
                <a:latin typeface="Gill Sans MT"/>
                <a:cs typeface="Gill Sans MT"/>
              </a:rPr>
              <a:t>dip.</a:t>
            </a:r>
          </a:p>
        </p:txBody>
      </p:sp>
      <p:pic>
        <p:nvPicPr>
          <p:cNvPr id="7" name="object 4">
            <a:extLst>
              <a:ext uri="{FF2B5EF4-FFF2-40B4-BE49-F238E27FC236}">
                <a16:creationId xmlns:a16="http://schemas.microsoft.com/office/drawing/2014/main" id="{7244E856-4C84-1619-8948-61E2E30DDC28}"/>
              </a:ext>
            </a:extLst>
          </p:cNvPr>
          <p:cNvPicPr/>
          <p:nvPr/>
        </p:nvPicPr>
        <p:blipFill>
          <a:blip r:embed="rId3" cstate="print"/>
          <a:stretch>
            <a:fillRect/>
          </a:stretch>
        </p:blipFill>
        <p:spPr>
          <a:xfrm>
            <a:off x="957072" y="2011679"/>
            <a:ext cx="11097768" cy="3444240"/>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sp>
        <p:nvSpPr>
          <p:cNvPr id="3" name="object 2">
            <a:extLst>
              <a:ext uri="{FF2B5EF4-FFF2-40B4-BE49-F238E27FC236}">
                <a16:creationId xmlns:a16="http://schemas.microsoft.com/office/drawing/2014/main" id="{53D01C82-8A8D-F875-3594-788ECC6B6C3E}"/>
              </a:ext>
            </a:extLst>
          </p:cNvPr>
          <p:cNvSpPr txBox="1">
            <a:spLocks/>
          </p:cNvSpPr>
          <p:nvPr/>
        </p:nvSpPr>
        <p:spPr>
          <a:xfrm>
            <a:off x="1097695" y="336250"/>
            <a:ext cx="10510520" cy="1120820"/>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a:lstStyle>
          <a:p>
            <a:pPr marL="12700" marR="5080">
              <a:lnSpc>
                <a:spcPct val="100000"/>
              </a:lnSpc>
              <a:spcBef>
                <a:spcPts val="100"/>
              </a:spcBef>
            </a:pPr>
            <a:r>
              <a:rPr lang="en-US" sz="2400" dirty="0">
                <a:solidFill>
                  <a:srgbClr val="000005"/>
                </a:solidFill>
                <a:cs typeface="+mn-cs"/>
              </a:rPr>
              <a:t>Each individual life stage profile shows a constant level of affluence; older &amp; younger families are the buyers that make the largest average transactional purchases.</a:t>
            </a:r>
          </a:p>
        </p:txBody>
      </p:sp>
      <p:pic>
        <p:nvPicPr>
          <p:cNvPr id="7" name="object 3">
            <a:extLst>
              <a:ext uri="{FF2B5EF4-FFF2-40B4-BE49-F238E27FC236}">
                <a16:creationId xmlns:a16="http://schemas.microsoft.com/office/drawing/2014/main" id="{F3864043-9649-1CBB-CD4B-98E06E69D34A}"/>
              </a:ext>
            </a:extLst>
          </p:cNvPr>
          <p:cNvPicPr/>
          <p:nvPr/>
        </p:nvPicPr>
        <p:blipFill>
          <a:blip r:embed="rId3" cstate="print"/>
          <a:stretch>
            <a:fillRect/>
          </a:stretch>
        </p:blipFill>
        <p:spPr>
          <a:xfrm>
            <a:off x="835590" y="1571625"/>
            <a:ext cx="10969310" cy="4468055"/>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sp>
        <p:nvSpPr>
          <p:cNvPr id="11" name="object 2">
            <a:extLst>
              <a:ext uri="{FF2B5EF4-FFF2-40B4-BE49-F238E27FC236}">
                <a16:creationId xmlns:a16="http://schemas.microsoft.com/office/drawing/2014/main" id="{D3A1B379-00EA-4C62-EE03-03CE426B3292}"/>
              </a:ext>
            </a:extLst>
          </p:cNvPr>
          <p:cNvSpPr txBox="1">
            <a:spLocks/>
          </p:cNvSpPr>
          <p:nvPr/>
        </p:nvSpPr>
        <p:spPr>
          <a:xfrm>
            <a:off x="1169924" y="214121"/>
            <a:ext cx="10446385" cy="1340880"/>
          </a:xfrm>
          <a:prstGeom prst="rect">
            <a:avLst/>
          </a:prstGeom>
        </p:spPr>
        <p:txBody>
          <a:bodyPr vert="horz" wrap="square" lIns="0" tIns="230632" rIns="0" bIns="0" rtlCol="0">
            <a:spAutoFit/>
          </a:bodyPr>
          <a:lst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a:lstStyle>
          <a:p>
            <a:pPr marL="27305" marR="5080">
              <a:lnSpc>
                <a:spcPct val="100000"/>
              </a:lnSpc>
              <a:spcBef>
                <a:spcPts val="100"/>
              </a:spcBef>
            </a:pPr>
            <a:r>
              <a:rPr lang="en-US" sz="2400" dirty="0">
                <a:solidFill>
                  <a:srgbClr val="000005"/>
                </a:solidFill>
                <a:cs typeface="+mn-cs"/>
              </a:rPr>
              <a:t>The majority of mainstream young singles and couples purchase snacking chips, while mainstream retirees also make up a sizeable component of this market.</a:t>
            </a:r>
          </a:p>
        </p:txBody>
      </p:sp>
      <p:pic>
        <p:nvPicPr>
          <p:cNvPr id="12" name="object 3">
            <a:extLst>
              <a:ext uri="{FF2B5EF4-FFF2-40B4-BE49-F238E27FC236}">
                <a16:creationId xmlns:a16="http://schemas.microsoft.com/office/drawing/2014/main" id="{690AD5C2-29DA-48F7-BA4C-E45124966B5B}"/>
              </a:ext>
            </a:extLst>
          </p:cNvPr>
          <p:cNvPicPr/>
          <p:nvPr/>
        </p:nvPicPr>
        <p:blipFill>
          <a:blip r:embed="rId3" cstate="print"/>
          <a:stretch>
            <a:fillRect/>
          </a:stretch>
        </p:blipFill>
        <p:spPr>
          <a:xfrm>
            <a:off x="924624" y="1566658"/>
            <a:ext cx="10867841" cy="4265489"/>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6" name="object 2">
            <a:extLst>
              <a:ext uri="{FF2B5EF4-FFF2-40B4-BE49-F238E27FC236}">
                <a16:creationId xmlns:a16="http://schemas.microsoft.com/office/drawing/2014/main" id="{024C4EF0-4342-EF49-B82B-9678FBC21208}"/>
              </a:ext>
            </a:extLst>
          </p:cNvPr>
          <p:cNvSpPr txBox="1">
            <a:spLocks/>
          </p:cNvSpPr>
          <p:nvPr/>
        </p:nvSpPr>
        <p:spPr>
          <a:xfrm>
            <a:off x="1169924" y="214121"/>
            <a:ext cx="10446385" cy="971548"/>
          </a:xfrm>
          <a:prstGeom prst="rect">
            <a:avLst/>
          </a:prstGeom>
        </p:spPr>
        <p:txBody>
          <a:bodyPr vert="horz" wrap="square" lIns="0" tIns="230632" rIns="0" bIns="0" rtlCol="0">
            <a:spAutoFit/>
          </a:bodyPr>
          <a:lst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a:lstStyle>
          <a:p>
            <a:pPr marL="27305" marR="5080">
              <a:lnSpc>
                <a:spcPct val="100000"/>
              </a:lnSpc>
              <a:spcBef>
                <a:spcPts val="100"/>
              </a:spcBef>
            </a:pPr>
            <a:r>
              <a:rPr lang="en-US" sz="2400" dirty="0">
                <a:solidFill>
                  <a:srgbClr val="000005"/>
                </a:solidFill>
                <a:cs typeface="+mn-cs"/>
              </a:rPr>
              <a:t>The trial store's performance in terms of total sales and customer count are reflected in the Control stores, whereas it is not exhibited in the other stores.</a:t>
            </a:r>
          </a:p>
        </p:txBody>
      </p:sp>
      <p:pic>
        <p:nvPicPr>
          <p:cNvPr id="7" name="object 3">
            <a:extLst>
              <a:ext uri="{FF2B5EF4-FFF2-40B4-BE49-F238E27FC236}">
                <a16:creationId xmlns:a16="http://schemas.microsoft.com/office/drawing/2014/main" id="{F26C92E1-4FBF-1821-DAE1-DD02BA1DB316}"/>
              </a:ext>
            </a:extLst>
          </p:cNvPr>
          <p:cNvPicPr/>
          <p:nvPr/>
        </p:nvPicPr>
        <p:blipFill>
          <a:blip r:embed="rId3" cstate="print"/>
          <a:stretch>
            <a:fillRect/>
          </a:stretch>
        </p:blipFill>
        <p:spPr>
          <a:xfrm>
            <a:off x="933288" y="1570179"/>
            <a:ext cx="10683021" cy="3973371"/>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pPr algn="just"/>
            <a:r>
              <a:rPr lang="en-US" dirty="0"/>
              <a:t>Trial</a:t>
            </a:r>
            <a:r>
              <a:rPr lang="en-US" spc="-15" dirty="0"/>
              <a:t> </a:t>
            </a:r>
            <a:r>
              <a:rPr lang="en-US" dirty="0"/>
              <a:t>shops</a:t>
            </a:r>
            <a:r>
              <a:rPr lang="en-US" spc="-15" dirty="0"/>
              <a:t> </a:t>
            </a:r>
            <a:r>
              <a:rPr lang="en-US" dirty="0"/>
              <a:t>77</a:t>
            </a:r>
            <a:r>
              <a:rPr lang="en-US" spc="-15" dirty="0"/>
              <a:t> </a:t>
            </a:r>
            <a:r>
              <a:rPr lang="en-US" dirty="0"/>
              <a:t>and</a:t>
            </a:r>
            <a:r>
              <a:rPr lang="en-US" spc="10" dirty="0"/>
              <a:t> </a:t>
            </a:r>
            <a:r>
              <a:rPr lang="en-US" dirty="0"/>
              <a:t>86</a:t>
            </a:r>
            <a:r>
              <a:rPr lang="en-US" spc="-15" dirty="0"/>
              <a:t> </a:t>
            </a:r>
            <a:r>
              <a:rPr lang="en-US" dirty="0"/>
              <a:t>significantly</a:t>
            </a:r>
            <a:r>
              <a:rPr lang="en-US" spc="-10" dirty="0"/>
              <a:t> </a:t>
            </a:r>
            <a:r>
              <a:rPr lang="en-US" dirty="0"/>
              <a:t>outperformed</a:t>
            </a:r>
            <a:r>
              <a:rPr lang="en-US" spc="-15" dirty="0"/>
              <a:t> </a:t>
            </a:r>
            <a:r>
              <a:rPr lang="en-US" dirty="0"/>
              <a:t>Control</a:t>
            </a:r>
            <a:r>
              <a:rPr lang="en-US" spc="-10" dirty="0"/>
              <a:t> </a:t>
            </a:r>
            <a:r>
              <a:rPr lang="en-US" dirty="0"/>
              <a:t>stores</a:t>
            </a:r>
            <a:r>
              <a:rPr lang="en-US" spc="-15" dirty="0"/>
              <a:t> </a:t>
            </a:r>
            <a:r>
              <a:rPr lang="en-US" dirty="0"/>
              <a:t>233</a:t>
            </a:r>
            <a:r>
              <a:rPr lang="en-US" spc="-15" dirty="0"/>
              <a:t> </a:t>
            </a:r>
            <a:r>
              <a:rPr lang="en-US" dirty="0"/>
              <a:t>and</a:t>
            </a:r>
            <a:r>
              <a:rPr lang="en-US" spc="-15" dirty="0"/>
              <a:t> </a:t>
            </a:r>
            <a:r>
              <a:rPr lang="en-US" dirty="0"/>
              <a:t>155</a:t>
            </a:r>
            <a:r>
              <a:rPr lang="en-US" spc="-15" dirty="0"/>
              <a:t> </a:t>
            </a:r>
            <a:r>
              <a:rPr lang="en-US" dirty="0"/>
              <a:t>in</a:t>
            </a:r>
            <a:r>
              <a:rPr lang="en-US" spc="-15" dirty="0"/>
              <a:t> </a:t>
            </a:r>
            <a:r>
              <a:rPr lang="en-US" spc="-10" dirty="0"/>
              <a:t>terms </a:t>
            </a:r>
            <a:r>
              <a:rPr lang="en-US" dirty="0"/>
              <a:t>of</a:t>
            </a:r>
            <a:r>
              <a:rPr lang="en-US" spc="-15" dirty="0"/>
              <a:t> </a:t>
            </a:r>
            <a:r>
              <a:rPr lang="en-US" dirty="0"/>
              <a:t>both</a:t>
            </a:r>
            <a:r>
              <a:rPr lang="en-US" spc="-10" dirty="0"/>
              <a:t> </a:t>
            </a:r>
            <a:r>
              <a:rPr lang="en-US" dirty="0"/>
              <a:t>total</a:t>
            </a:r>
            <a:r>
              <a:rPr lang="en-US" spc="-25" dirty="0"/>
              <a:t> </a:t>
            </a:r>
            <a:r>
              <a:rPr lang="en-US" dirty="0"/>
              <a:t>sales</a:t>
            </a:r>
            <a:r>
              <a:rPr lang="en-US" spc="-10" dirty="0"/>
              <a:t> </a:t>
            </a:r>
            <a:r>
              <a:rPr lang="en-US" dirty="0"/>
              <a:t>and</a:t>
            </a:r>
            <a:r>
              <a:rPr lang="en-US" spc="15" dirty="0"/>
              <a:t> </a:t>
            </a:r>
            <a:r>
              <a:rPr lang="en-US" dirty="0"/>
              <a:t>the</a:t>
            </a:r>
            <a:r>
              <a:rPr lang="en-US" spc="-40" dirty="0"/>
              <a:t> </a:t>
            </a:r>
            <a:r>
              <a:rPr lang="en-US" dirty="0"/>
              <a:t>number of</a:t>
            </a:r>
            <a:r>
              <a:rPr lang="en-US" spc="-10" dirty="0"/>
              <a:t> </a:t>
            </a:r>
            <a:r>
              <a:rPr lang="en-US" dirty="0"/>
              <a:t>customers</a:t>
            </a:r>
            <a:r>
              <a:rPr lang="en-US" spc="-10" dirty="0"/>
              <a:t> </a:t>
            </a:r>
            <a:r>
              <a:rPr lang="en-US" dirty="0"/>
              <a:t>they</a:t>
            </a:r>
            <a:r>
              <a:rPr lang="en-US" spc="-15" dirty="0"/>
              <a:t> </a:t>
            </a:r>
            <a:r>
              <a:rPr lang="en-US" dirty="0"/>
              <a:t>attracted</a:t>
            </a:r>
            <a:r>
              <a:rPr lang="en-US" spc="-10" dirty="0"/>
              <a:t> </a:t>
            </a:r>
            <a:r>
              <a:rPr lang="en-US" dirty="0"/>
              <a:t>throughout</a:t>
            </a:r>
            <a:r>
              <a:rPr lang="en-US" spc="20" dirty="0"/>
              <a:t> </a:t>
            </a:r>
            <a:r>
              <a:rPr lang="en-US" dirty="0"/>
              <a:t>the</a:t>
            </a:r>
            <a:r>
              <a:rPr lang="en-US" spc="-20" dirty="0"/>
              <a:t> </a:t>
            </a:r>
            <a:r>
              <a:rPr lang="en-US" spc="-10" dirty="0"/>
              <a:t>trial </a:t>
            </a:r>
            <a:r>
              <a:rPr lang="en-US" dirty="0"/>
              <a:t>period.</a:t>
            </a:r>
            <a:r>
              <a:rPr lang="en-US" spc="-60" dirty="0"/>
              <a:t> </a:t>
            </a:r>
            <a:r>
              <a:rPr lang="en-US" dirty="0"/>
              <a:t>The</a:t>
            </a:r>
            <a:r>
              <a:rPr lang="en-US" spc="-5" dirty="0"/>
              <a:t> </a:t>
            </a:r>
            <a:r>
              <a:rPr lang="en-US" dirty="0"/>
              <a:t>performance improvement</a:t>
            </a:r>
            <a:r>
              <a:rPr lang="en-US" spc="-15" dirty="0"/>
              <a:t> </a:t>
            </a:r>
            <a:r>
              <a:rPr lang="en-US" dirty="0"/>
              <a:t>at</a:t>
            </a:r>
            <a:r>
              <a:rPr lang="en-US" spc="-35" dirty="0"/>
              <a:t> </a:t>
            </a:r>
            <a:r>
              <a:rPr lang="en-US" dirty="0"/>
              <a:t>the</a:t>
            </a:r>
            <a:r>
              <a:rPr lang="en-US" spc="-25" dirty="0"/>
              <a:t> </a:t>
            </a:r>
            <a:r>
              <a:rPr lang="en-US" dirty="0"/>
              <a:t>88th</a:t>
            </a:r>
            <a:r>
              <a:rPr lang="en-US" spc="-20" dirty="0"/>
              <a:t> </a:t>
            </a:r>
            <a:r>
              <a:rPr lang="en-US" dirty="0"/>
              <a:t>trial</a:t>
            </a:r>
            <a:r>
              <a:rPr lang="en-US" spc="-35" dirty="0"/>
              <a:t> </a:t>
            </a:r>
            <a:r>
              <a:rPr lang="en-US" dirty="0"/>
              <a:t>shop,</a:t>
            </a:r>
            <a:r>
              <a:rPr lang="en-US" spc="-15" dirty="0"/>
              <a:t> </a:t>
            </a:r>
            <a:r>
              <a:rPr lang="en-US" dirty="0"/>
              <a:t>however,</a:t>
            </a:r>
            <a:r>
              <a:rPr lang="en-US" spc="30" dirty="0"/>
              <a:t> </a:t>
            </a:r>
            <a:r>
              <a:rPr lang="en-US" dirty="0"/>
              <a:t>is</a:t>
            </a:r>
            <a:r>
              <a:rPr lang="en-US" spc="-30" dirty="0"/>
              <a:t> </a:t>
            </a:r>
            <a:r>
              <a:rPr lang="en-US" spc="-10" dirty="0"/>
              <a:t>modest.</a:t>
            </a:r>
            <a:endParaRPr lang="en-AU"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3" name="object 4">
            <a:extLst>
              <a:ext uri="{FF2B5EF4-FFF2-40B4-BE49-F238E27FC236}">
                <a16:creationId xmlns:a16="http://schemas.microsoft.com/office/drawing/2014/main" id="{0C0892DF-0EC5-CF63-22D4-3D895551E5F2}"/>
              </a:ext>
            </a:extLst>
          </p:cNvPr>
          <p:cNvPicPr/>
          <p:nvPr/>
        </p:nvPicPr>
        <p:blipFill>
          <a:blip r:embed="rId3" cstate="print"/>
          <a:stretch>
            <a:fillRect/>
          </a:stretch>
        </p:blipFill>
        <p:spPr>
          <a:xfrm>
            <a:off x="1196975" y="2005758"/>
            <a:ext cx="10249236" cy="4169909"/>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6411</TotalTime>
  <Words>609</Words>
  <Application>Microsoft Office PowerPoint</Application>
  <PresentationFormat>Widescreen</PresentationFormat>
  <Paragraphs>45</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Roboto Medium</vt:lpstr>
      <vt:lpstr>Roboto</vt:lpstr>
      <vt:lpstr>Times New Roman</vt:lpstr>
      <vt:lpstr>Roboto Light</vt:lpstr>
      <vt:lpstr>Calibri</vt:lpstr>
      <vt:lpstr>Gill Sans MT</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Pooja Dagadkhair</cp:lastModifiedBy>
  <cp:revision>466</cp:revision>
  <dcterms:created xsi:type="dcterms:W3CDTF">2018-02-07T23:23:24Z</dcterms:created>
  <dcterms:modified xsi:type="dcterms:W3CDTF">2025-12-16T20:00:38Z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